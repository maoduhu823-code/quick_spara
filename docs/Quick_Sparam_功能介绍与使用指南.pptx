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5120640" cy="62179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4000" b="1">
                <a:solidFill>
                  <a:srgbClr val="1C2734"/>
                </a:solidFill>
                <a:latin typeface="Microsoft YaHei UI"/>
              </a:rPr>
              <a:t>Quick_Sparam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25880"/>
            <a:ext cx="5120640" cy="411480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2300" b="1">
                <a:solidFill>
                  <a:srgbClr val="177E89"/>
                </a:solidFill>
                <a:latin typeface="Microsoft YaHei UI"/>
              </a:rPr>
              <a:t>功能介绍与使用指南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01952"/>
            <a:ext cx="5303520" cy="658368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1500" b="0">
                <a:solidFill>
                  <a:srgbClr val="2D343D"/>
                </a:solidFill>
                <a:latin typeface="Microsoft YaHei UI"/>
              </a:rPr>
              <a:t>面向 RF S 参数文件的查看、端口处理、级联、差分转换、频域/时域分析和结果导出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8892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D343D"/>
                </a:solidFill>
                <a:latin typeface="Microsoft YaHei UI"/>
              </a:defRPr>
            </a:pPr>
            <a:r>
              <a:t>适用文件：Touchstone .snp</a:t>
            </a:r>
          </a:p>
          <a:p>
            <a:pPr>
              <a:spcAft>
                <a:spcPts val="500"/>
              </a:spcAft>
              <a:defRPr sz="1500">
                <a:solidFill>
                  <a:srgbClr val="2D343D"/>
                </a:solidFill>
                <a:latin typeface="Microsoft YaHei UI"/>
              </a:defRPr>
            </a:pPr>
            <a:r>
              <a:t>核心对象：文件列表、端口对、数据切面、分析结果</a:t>
            </a:r>
          </a:p>
          <a:p>
            <a:pPr>
              <a:spcAft>
                <a:spcPts val="500"/>
              </a:spcAft>
              <a:defRPr sz="1500">
                <a:solidFill>
                  <a:srgbClr val="2D343D"/>
                </a:solidFill>
                <a:latin typeface="Microsoft YaHei UI"/>
              </a:defRPr>
            </a:pPr>
            <a:r>
              <a:t>建议流程：先检查端口，再进行绘图或批量分析</a:t>
            </a:r>
          </a:p>
        </p:txBody>
      </p:sp>
      <p:pic>
        <p:nvPicPr>
          <p:cNvPr id="6" name="Picture 5" descr="main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997964"/>
            <a:ext cx="6035040" cy="2816352"/>
          </a:xfrm>
          <a:prstGeom prst="rect">
            <a:avLst/>
          </a:prstGeom>
          <a:ln w="9525">
            <a:solidFill>
              <a:srgbClr val="CDD6DD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7863840" cy="34747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2400" b="1">
                <a:solidFill>
                  <a:srgbClr val="1C2734"/>
                </a:solidFill>
                <a:latin typeface="Microsoft YaHei UI"/>
              </a:rPr>
              <a:t>典型操作流程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76072"/>
            <a:ext cx="8229600" cy="25603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Microsoft YaHei UI"/>
              </a:rPr>
              <a:t>从原始 Touchstone 文件到图形、转换文件和 Excel 报告。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193852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A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2359152"/>
            <a:ext cx="438912" cy="438912"/>
          </a:xfrm>
          <a:prstGeom prst="ellipse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4016"/>
            <a:ext cx="438912" cy="25603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2340864"/>
            <a:ext cx="1078992" cy="25603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1500" b="1">
                <a:solidFill>
                  <a:srgbClr val="1C2734"/>
                </a:solidFill>
                <a:latin typeface="Microsoft YaHei UI"/>
              </a:rPr>
              <a:t>导入文件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606040"/>
            <a:ext cx="1078992" cy="502920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Microsoft YaHei UI"/>
              </a:rPr>
              <a:t>打开一个或多个 .snp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51176" y="2651760"/>
            <a:ext cx="502920" cy="237744"/>
          </a:xfrm>
          <a:prstGeom prst="rightArrow">
            <a:avLst/>
          </a:prstGeom>
          <a:solidFill>
            <a:srgbClr val="B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34639" y="2103120"/>
            <a:ext cx="193852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A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17520" y="2359152"/>
            <a:ext cx="438912" cy="438912"/>
          </a:xfrm>
          <a:prstGeom prst="ellipse">
            <a:avLst/>
          </a:prstGeom>
          <a:solidFill>
            <a:srgbClr val="E5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414016"/>
            <a:ext cx="438912" cy="25603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340864"/>
            <a:ext cx="1078992" cy="25603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1500" b="1">
                <a:solidFill>
                  <a:srgbClr val="1C2734"/>
                </a:solidFill>
                <a:latin typeface="Microsoft YaHei UI"/>
              </a:rPr>
              <a:t>确认端口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606040"/>
            <a:ext cx="1078992" cy="502920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Microsoft YaHei UI"/>
              </a:rPr>
              <a:t>端口名、顺序、阻抗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82896" y="2651760"/>
            <a:ext cx="502920" cy="237744"/>
          </a:xfrm>
          <a:prstGeom prst="rightArrow">
            <a:avLst/>
          </a:prstGeom>
          <a:solidFill>
            <a:srgbClr val="B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66359" y="2103120"/>
            <a:ext cx="193852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A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49240" y="2359152"/>
            <a:ext cx="438912" cy="438912"/>
          </a:xfrm>
          <a:prstGeom prst="ellipse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2414016"/>
            <a:ext cx="438912" cy="25603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9592" y="2340864"/>
            <a:ext cx="1078992" cy="25603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1500" b="1">
                <a:solidFill>
                  <a:srgbClr val="1C2734"/>
                </a:solidFill>
                <a:latin typeface="Microsoft YaHei UI"/>
              </a:rPr>
              <a:t>快速绘图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9592" y="2606040"/>
            <a:ext cx="1078992" cy="502920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Microsoft YaHei UI"/>
              </a:rPr>
              <a:t>输入端口对与数据切面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214616" y="2651760"/>
            <a:ext cx="502920" cy="237744"/>
          </a:xfrm>
          <a:prstGeom prst="rightArrow">
            <a:avLst/>
          </a:prstGeom>
          <a:solidFill>
            <a:srgbClr val="B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98079" y="2103120"/>
            <a:ext cx="193852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A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80959" y="2359152"/>
            <a:ext cx="438912" cy="438912"/>
          </a:xfrm>
          <a:prstGeom prst="ellipse">
            <a:avLst/>
          </a:prstGeom>
          <a:solidFill>
            <a:srgbClr val="E5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59" y="2414016"/>
            <a:ext cx="438912" cy="25603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1" y="2340864"/>
            <a:ext cx="1078992" cy="25603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1500" b="1">
                <a:solidFill>
                  <a:srgbClr val="1C2734"/>
                </a:solidFill>
                <a:latin typeface="Microsoft YaHei UI"/>
              </a:rPr>
              <a:t>分析转换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1" y="2606040"/>
            <a:ext cx="1078992" cy="502920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Microsoft YaHei UI"/>
              </a:rPr>
              <a:t>频域、时域、级联、差分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546336" y="2651760"/>
            <a:ext cx="502920" cy="237744"/>
          </a:xfrm>
          <a:prstGeom prst="rightArrow">
            <a:avLst/>
          </a:prstGeom>
          <a:solidFill>
            <a:srgbClr val="B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829800" y="2103120"/>
            <a:ext cx="193852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A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12680" y="2359152"/>
            <a:ext cx="438912" cy="438912"/>
          </a:xfrm>
          <a:prstGeom prst="ellipse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12680" y="2414016"/>
            <a:ext cx="438912" cy="25603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43032" y="2340864"/>
            <a:ext cx="1078992" cy="25603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1500" b="1">
                <a:solidFill>
                  <a:srgbClr val="1C2734"/>
                </a:solidFill>
                <a:latin typeface="Microsoft YaHei UI"/>
              </a:rPr>
              <a:t>保存导出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43032" y="2606040"/>
            <a:ext cx="1078992" cy="502920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Microsoft YaHei UI"/>
              </a:rPr>
              <a:t>保存 S 参数或 Excel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29768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D343D"/>
                </a:solidFill>
                <a:latin typeface="Microsoft YaHei UI"/>
              </a:defRPr>
            </a:pPr>
            <a:r>
              <a:t>端口相关操作会生成新的网络对象，建议生成后立即查看文件信息或保存。</a:t>
            </a:r>
          </a:p>
          <a:p>
            <a:pPr>
              <a:spcAft>
                <a:spcPts val="500"/>
              </a:spcAft>
              <a:defRPr sz="1700">
                <a:solidFill>
                  <a:srgbClr val="2D343D"/>
                </a:solidFill>
                <a:latin typeface="Microsoft YaHei UI"/>
              </a:defRPr>
            </a:pPr>
            <a:r>
              <a:t>批量分析前先选中文件，确保端口排布方式与模型一致。</a:t>
            </a:r>
          </a:p>
          <a:p>
            <a:pPr>
              <a:spcAft>
                <a:spcPts val="500"/>
              </a:spcAft>
              <a:defRPr sz="1700">
                <a:solidFill>
                  <a:srgbClr val="2D343D"/>
                </a:solidFill>
                <a:latin typeface="Microsoft YaHei UI"/>
              </a:defRPr>
            </a:pPr>
            <a:r>
              <a:t>信息输出区会记录关键处理过程，便于复核和追溯。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7863840" cy="34747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2400" b="1">
                <a:solidFill>
                  <a:srgbClr val="1C2734"/>
                </a:solidFill>
                <a:latin typeface="Microsoft YaHei UI"/>
              </a:rPr>
              <a:t>主界面模块总览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76072"/>
            <a:ext cx="8229600" cy="25603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Microsoft YaHei UI"/>
              </a:rPr>
              <a:t>红框和编号对应日常使用中最常触达的区域。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in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997915"/>
            <a:ext cx="11594592" cy="5410809"/>
          </a:xfrm>
          <a:prstGeom prst="rect">
            <a:avLst/>
          </a:prstGeom>
          <a:ln w="9525">
            <a:solidFill>
              <a:srgbClr val="CDD6DD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7863840" cy="34747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2400" b="1">
                <a:solidFill>
                  <a:srgbClr val="1C2734"/>
                </a:solidFill>
                <a:latin typeface="Microsoft YaHei UI"/>
              </a:rPr>
              <a:t>快速绘制一条 S 参数曲线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76072"/>
            <a:ext cx="8229600" cy="25603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Microsoft YaHei UI"/>
              </a:rPr>
              <a:t>适合打开文件后快速检查插损、回损、相位、群延迟或 Z/Y 参数。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uick_plot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89381"/>
            <a:ext cx="11631168" cy="5427878"/>
          </a:xfrm>
          <a:prstGeom prst="rect">
            <a:avLst/>
          </a:prstGeom>
          <a:ln w="9525">
            <a:solidFill>
              <a:srgbClr val="CDD6DD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7863840" cy="34747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2400" b="1">
                <a:solidFill>
                  <a:srgbClr val="1C2734"/>
                </a:solidFill>
                <a:latin typeface="Microsoft YaHei UI"/>
              </a:rPr>
              <a:t>端口处理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76072"/>
            <a:ext cx="8229600" cy="25603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Microsoft YaHei UI"/>
              </a:rPr>
              <a:t>先修正端口元数据，再做拓扑或阻抗变换，可以减少后续分析中的端口误配。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ort_management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09700"/>
            <a:ext cx="4572000" cy="3810000"/>
          </a:xfrm>
          <a:prstGeom prst="rect">
            <a:avLst/>
          </a:prstGeom>
          <a:ln w="9525">
            <a:solidFill>
              <a:srgbClr val="CDD6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15000" y="1508760"/>
            <a:ext cx="54406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D343D"/>
                </a:solidFill>
                <a:latin typeface="Microsoft YaHei UI"/>
              </a:defRPr>
            </a:pPr>
            <a:r>
              <a:t>编辑端口名：为无端口名的模型补齐名称，便于选择器按名称填端口。</a:t>
            </a:r>
          </a:p>
          <a:p>
            <a:pPr>
              <a:spcAft>
                <a:spcPts val="500"/>
              </a:spcAft>
              <a:defRPr sz="1800">
                <a:solidFill>
                  <a:srgbClr val="2D343D"/>
                </a:solidFill>
                <a:latin typeface="Microsoft YaHei UI"/>
              </a:defRPr>
            </a:pPr>
            <a:r>
              <a:t>修改参考阻抗：只更新 Z0 标注，不重新归一化矩阵。</a:t>
            </a:r>
          </a:p>
          <a:p>
            <a:pPr>
              <a:spcAft>
                <a:spcPts val="500"/>
              </a:spcAft>
              <a:defRPr sz="1800">
                <a:solidFill>
                  <a:srgbClr val="2D343D"/>
                </a:solidFill>
                <a:latin typeface="Microsoft YaHei UI"/>
              </a:defRPr>
            </a:pPr>
            <a:r>
              <a:t>重排/合并/缩并：生成新的 S 参数对象，建议生成后查看文件信息。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4251960"/>
            <a:ext cx="5120640" cy="502920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1800" b="1">
                <a:solidFill>
                  <a:srgbClr val="177E89"/>
                </a:solidFill>
                <a:latin typeface="Microsoft YaHei UI"/>
              </a:rPr>
              <a:t>推荐顺序：端口名 → 端口顺序 → 阻抗/缩并 → 保存结果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7863840" cy="34747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2400" b="1">
                <a:solidFill>
                  <a:srgbClr val="1C2734"/>
                </a:solidFill>
                <a:latin typeface="Microsoft YaHei UI"/>
              </a:rPr>
              <a:t>差分转换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76072"/>
            <a:ext cx="8229600" cy="25603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Microsoft YaHei UI"/>
              </a:rPr>
              <a:t>支持按线逻辑或端口逻辑建立差分对，并选择只输出 SDD 或完整混合模式参数。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ff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24" y="960120"/>
            <a:ext cx="5830431" cy="5257800"/>
          </a:xfrm>
          <a:prstGeom prst="rect">
            <a:avLst/>
          </a:prstGeom>
          <a:ln w="9525">
            <a:solidFill>
              <a:srgbClr val="CDD6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086600" y="1508760"/>
            <a:ext cx="44348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D343D"/>
                </a:solidFill>
                <a:latin typeface="Microsoft YaHei UI"/>
              </a:defRPr>
            </a:pPr>
            <a:r>
              <a:t>按侧/按线排布决定差分线的默认配对方式。</a:t>
            </a:r>
          </a:p>
          <a:p>
            <a:pPr>
              <a:spcAft>
                <a:spcPts val="500"/>
              </a:spcAft>
              <a:defRPr sz="1700">
                <a:solidFill>
                  <a:srgbClr val="2D343D"/>
                </a:solidFill>
                <a:latin typeface="Microsoft YaHei UI"/>
              </a:defRPr>
            </a:pPr>
            <a:r>
              <a:t>部分差分可只转换指定 line，适合混合单端与差分网络。</a:t>
            </a:r>
          </a:p>
          <a:p>
            <a:pPr>
              <a:spcAft>
                <a:spcPts val="500"/>
              </a:spcAft>
              <a:defRPr sz="1700">
                <a:solidFill>
                  <a:srgbClr val="2D343D"/>
                </a:solidFill>
                <a:latin typeface="Microsoft YaHei UI"/>
              </a:defRPr>
            </a:pPr>
            <a:r>
              <a:t>完整混合模式会保留 SDD/SCD/SDC/SCC，便于后续串扰诊断。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7863840" cy="34747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2400" b="1">
                <a:solidFill>
                  <a:srgbClr val="1C2734"/>
                </a:solidFill>
                <a:latin typeface="Microsoft YaHei UI"/>
              </a:rPr>
              <a:t>频域批量分析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76072"/>
            <a:ext cx="8229600" cy="25603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Microsoft YaHei UI"/>
              </a:rPr>
              <a:t>面向插损、回损、串扰、PN skew、群延迟和 VTF 等指标的批量查看与导出。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equency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09825"/>
            <a:ext cx="7315200" cy="4004109"/>
          </a:xfrm>
          <a:prstGeom prst="rect">
            <a:avLst/>
          </a:prstGeom>
          <a:ln w="9525">
            <a:solidFill>
              <a:srgbClr val="CDD6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7947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D343D"/>
                </a:solidFill>
                <a:latin typeface="Microsoft YaHei UI"/>
              </a:defRPr>
            </a:pPr>
            <a:r>
              <a:t>先选中文件，再勾选需要的分析项目。</a:t>
            </a:r>
          </a:p>
          <a:p>
            <a:pPr>
              <a:spcAft>
                <a:spcPts val="500"/>
              </a:spcAft>
              <a:defRPr sz="1600">
                <a:solidFill>
                  <a:srgbClr val="2D343D"/>
                </a:solidFill>
                <a:latin typeface="Microsoft YaHei UI"/>
              </a:defRPr>
            </a:pPr>
            <a:r>
              <a:t>端口排布与传输方向会影响 line/串扰计算结果。</a:t>
            </a:r>
          </a:p>
          <a:p>
            <a:pPr>
              <a:spcAft>
                <a:spcPts val="500"/>
              </a:spcAft>
              <a:defRPr sz="1600">
                <a:solidFill>
                  <a:srgbClr val="2D343D"/>
                </a:solidFill>
                <a:latin typeface="Microsoft YaHei UI"/>
              </a:defRPr>
            </a:pPr>
            <a:r>
              <a:t>“指定 line/最差 line/横向比较”用于定位问题通道。</a:t>
            </a:r>
          </a:p>
          <a:p>
            <a:pPr>
              <a:spcAft>
                <a:spcPts val="500"/>
              </a:spcAft>
              <a:defRPr sz="1600">
                <a:solidFill>
                  <a:srgbClr val="2D343D"/>
                </a:solidFill>
                <a:latin typeface="Microsoft YaHei UI"/>
              </a:defRPr>
            </a:pPr>
            <a:r>
              <a:t>“导出数据为 Excel”用于交付报告或二次处理。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7863840" cy="34747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2400" b="1">
                <a:solidFill>
                  <a:srgbClr val="1C2734"/>
                </a:solidFill>
                <a:latin typeface="Microsoft YaHei UI"/>
              </a:rPr>
              <a:t>S 参数级联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76072"/>
            <a:ext cx="8229600" cy="25603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Microsoft YaHei UI"/>
              </a:rPr>
              <a:t>通过表格指定相邻网络的连接端口，相同颜色的单元格表示连接关系。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scade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744980"/>
            <a:ext cx="8412480" cy="3505200"/>
          </a:xfrm>
          <a:prstGeom prst="rect">
            <a:avLst/>
          </a:prstGeom>
          <a:ln w="9525">
            <a:solidFill>
              <a:srgbClr val="CDD6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006840" y="1508760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D343D"/>
                </a:solidFill>
                <a:latin typeface="Microsoft YaHei UI"/>
              </a:defRPr>
            </a:pPr>
            <a:r>
              <a:t>每一行选择一个待级联的 S 参数文件。</a:t>
            </a:r>
          </a:p>
          <a:p>
            <a:pPr>
              <a:spcAft>
                <a:spcPts val="500"/>
              </a:spcAft>
              <a:defRPr sz="1600">
                <a:solidFill>
                  <a:srgbClr val="2D343D"/>
                </a:solidFill>
                <a:latin typeface="Microsoft YaHei UI"/>
              </a:defRPr>
            </a:pPr>
            <a:r>
              <a:t>右端口与下一行左端口数量必须一致。</a:t>
            </a:r>
          </a:p>
          <a:p>
            <a:pPr>
              <a:spcAft>
                <a:spcPts val="500"/>
              </a:spcAft>
              <a:defRPr sz="1600">
                <a:solidFill>
                  <a:srgbClr val="2D343D"/>
                </a:solidFill>
                <a:latin typeface="Microsoft YaHei UI"/>
              </a:defRPr>
            </a:pPr>
            <a:r>
              <a:t>可用“所有端口/按边排布/按线排布”快速填表。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7863840" cy="34747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2400" b="1">
                <a:solidFill>
                  <a:srgbClr val="1C2734"/>
                </a:solidFill>
                <a:latin typeface="Microsoft YaHei UI"/>
              </a:rPr>
              <a:t>Ripple 与时域分析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76072"/>
            <a:ext cx="8229600" cy="25603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Microsoft YaHei UI"/>
              </a:rPr>
              <a:t>分别用于频域曲线纹波评估，以及 TDR/冲激/阶跃/脉冲响应查看。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ipple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142" y="960120"/>
            <a:ext cx="4896196" cy="2606040"/>
          </a:xfrm>
          <a:prstGeom prst="rect">
            <a:avLst/>
          </a:prstGeom>
          <a:ln w="9525">
            <a:solidFill>
              <a:srgbClr val="CDD6DD"/>
            </a:solidFill>
          </a:ln>
        </p:spPr>
      </p:pic>
      <p:pic>
        <p:nvPicPr>
          <p:cNvPr id="6" name="Picture 5" descr="time_annot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655" y="3767328"/>
            <a:ext cx="3449170" cy="2606040"/>
          </a:xfrm>
          <a:prstGeom prst="rect">
            <a:avLst/>
          </a:prstGeom>
          <a:ln w="9525">
            <a:solidFill>
              <a:srgbClr val="CDD6D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172200" y="1280160"/>
            <a:ext cx="53492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D343D"/>
                </a:solidFill>
                <a:latin typeface="Microsoft YaHei UI"/>
              </a:defRPr>
            </a:pPr>
            <a:r>
              <a:t>Ripple：输入端口对和频率范围，选择多项式、IEEE 802.3 或平滑函数拟合。</a:t>
            </a:r>
          </a:p>
          <a:p>
            <a:pPr>
              <a:spcAft>
                <a:spcPts val="500"/>
              </a:spcAft>
              <a:defRPr sz="1700">
                <a:solidFill>
                  <a:srgbClr val="2D343D"/>
                </a:solidFill>
                <a:latin typeface="Microsoft YaHei UI"/>
              </a:defRPr>
            </a:pPr>
            <a:r>
              <a:t>时域：选择波形类型后设置上升沿、步长、点数和窗口，兼容性状态会给出风险提示。</a:t>
            </a:r>
          </a:p>
          <a:p>
            <a:pPr>
              <a:spcAft>
                <a:spcPts val="500"/>
              </a:spcAft>
              <a:defRPr sz="1700">
                <a:solidFill>
                  <a:srgbClr val="2D343D"/>
                </a:solidFill>
                <a:latin typeface="Microsoft YaHei UI"/>
              </a:defRPr>
            </a:pPr>
            <a:r>
              <a:t>两类分析都建议先用主界面确认端口对，再进入对话框批量处理。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7863840" cy="34747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2400" b="1">
                <a:solidFill>
                  <a:srgbClr val="1C2734"/>
                </a:solidFill>
                <a:latin typeface="Microsoft YaHei UI"/>
              </a:rPr>
              <a:t>交付与复核建议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76072"/>
            <a:ext cx="8229600" cy="256032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Microsoft YaHei UI"/>
              </a:rPr>
              <a:t>让结果可复现、可追溯、可复查。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5120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D343D"/>
                </a:solidFill>
                <a:latin typeface="Microsoft YaHei UI"/>
              </a:defRPr>
            </a:pPr>
            <a:r>
              <a:t>保存转换后的 S 参数文件时，保留能说明处理动作的后缀。</a:t>
            </a:r>
          </a:p>
          <a:p>
            <a:pPr>
              <a:spcAft>
                <a:spcPts val="500"/>
              </a:spcAft>
              <a:defRPr sz="1900">
                <a:solidFill>
                  <a:srgbClr val="2D343D"/>
                </a:solidFill>
                <a:latin typeface="Microsoft YaHei UI"/>
              </a:defRPr>
            </a:pPr>
            <a:r>
              <a:t>Excel 结果用于报告正文，原始 .snp 与转换后 .snp 一起归档。</a:t>
            </a:r>
          </a:p>
          <a:p>
            <a:pPr>
              <a:spcAft>
                <a:spcPts val="500"/>
              </a:spcAft>
              <a:defRPr sz="1900">
                <a:solidFill>
                  <a:srgbClr val="2D343D"/>
                </a:solidFill>
                <a:latin typeface="Microsoft YaHei UI"/>
              </a:defRPr>
            </a:pPr>
            <a:r>
              <a:t>关键信息可从“文件信息”“频点列表”和信息输出区复核。</a:t>
            </a:r>
          </a:p>
          <a:p>
            <a:pPr>
              <a:spcAft>
                <a:spcPts val="500"/>
              </a:spcAft>
              <a:defRPr sz="1900">
                <a:solidFill>
                  <a:srgbClr val="2D343D"/>
                </a:solidFill>
                <a:latin typeface="Microsoft YaHei UI"/>
              </a:defRPr>
            </a:pPr>
            <a:r>
              <a:t>批量处理前确认端口排布图与实际封装/连接器拓扑一致。</a:t>
            </a:r>
          </a:p>
        </p:txBody>
      </p:sp>
      <p:pic>
        <p:nvPicPr>
          <p:cNvPr id="6" name="Picture 5" descr="main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959864"/>
            <a:ext cx="5806440" cy="2709672"/>
          </a:xfrm>
          <a:prstGeom prst="rect">
            <a:avLst/>
          </a:prstGeom>
          <a:ln w="9525">
            <a:solidFill>
              <a:srgbClr val="CDD6D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41248" y="5303520"/>
            <a:ext cx="10241280" cy="292608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Microsoft YaHei UI"/>
              </a:rPr>
              <a:t>文档生成脚本：C:\Users\33202\PycharmProjects\Quick_Sparam\docs\generate_usage_ppt.py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650992"/>
            <a:ext cx="10241280" cy="292608"/>
          </a:xfrm>
          <a:prstGeom prst="rect">
            <a:avLst/>
          </a:prstGeom>
          <a:noFill/>
        </p:spPr>
        <p:txBody>
          <a:bodyPr wrap="none" lIns="27432" rIns="27432" tIns="18288" anchor="t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Microsoft YaHei UI"/>
              </a:rPr>
              <a:t>输出文件：Quick_Sparam_功能介绍与使用指南.pptx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